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0150" y="1435029"/>
            <a:ext cx="6429375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Projeto OBSMULHER-TO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200150" y="2316249"/>
            <a:ext cx="80010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Observatório de Segurança Pública Voltado aos Crimes Envolvendo Mulheres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1200150" y="4139803"/>
            <a:ext cx="48809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Secretaria da Segurança Pública do Estado do Tocantins (SSP-TO)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200150" y="4455914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Painel Virtual da Segurança da Mulher |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818378"/>
            <a:ext cx="2936081" cy="37326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Diagnóstico e Justificativa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914400" y="1763139"/>
            <a:ext cx="3643313" cy="2564829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239091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78756" y="2220339"/>
            <a:ext cx="12215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 Atual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200150" y="2572169"/>
            <a:ext cx="30718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Tocantins apresenta índices significativos de violência contra mulheres, com concentração em municípios e períodos específicos.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1200150" y="3317909"/>
            <a:ext cx="30718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falta de dados estruturados impede uma resposta rápida e eficaz das forças de segurança.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986338" y="1763139"/>
            <a:ext cx="3643313" cy="2564829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88" y="2239091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50694" y="2220339"/>
            <a:ext cx="17841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Lacunas e Impactos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272088" y="2572169"/>
            <a:ext cx="30718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Lacuna: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Ausência de um núcleo técnico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permanente dedicado à produção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sobre o fenômeno.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5272088" y="3317909"/>
            <a:ext cx="30718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Comprometimento do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e correção de políticas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públicas de proteção à mulher.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251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75503"/>
            <a:ext cx="4357688" cy="37326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Resumo Executivo e Objetivos Centrais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20264"/>
            <a:ext cx="257175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113183"/>
            <a:ext cx="18430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APLICADA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914400" y="2441795"/>
            <a:ext cx="23812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Produzir inteligência sobre crimes envolvendo mulheres para subsidiar decisões estratégicas.</a:t>
            </a:r>
            <a:endParaRPr lang="en-US" sz="72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391" y="1620264"/>
            <a:ext cx="289322" cy="257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81391" y="2113183"/>
            <a:ext cx="23717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TERRITORIAL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3581391" y="2441795"/>
            <a:ext cx="23812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Acompanhamento estatístico e temporal das principais tipologias delitivas de gênero.</a:t>
            </a:r>
            <a:endParaRPr lang="en-US" sz="72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81" y="1620264"/>
            <a:ext cx="257175" cy="2571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8381" y="2113183"/>
            <a:ext cx="149483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À PROTEÇÃO</a:t>
            </a:r>
            <a:endParaRPr lang="en-US" sz="885" dirty="0"/>
          </a:p>
        </p:txBody>
      </p:sp>
      <p:sp>
        <p:nvSpPr>
          <p:cNvPr id="12" name="Text 6"/>
          <p:cNvSpPr/>
          <p:nvPr/>
        </p:nvSpPr>
        <p:spPr>
          <a:xfrm>
            <a:off x="6248381" y="2441795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Apoiar a rede de proteção e a formulação de políticas públicas integradas.</a:t>
            </a:r>
            <a:endParaRPr lang="en-US" sz="727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70470"/>
            <a:ext cx="321469" cy="2571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763389"/>
            <a:ext cx="117336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PAINEL DIGITAL</a:t>
            </a:r>
            <a:endParaRPr lang="en-US" sz="885" dirty="0"/>
          </a:p>
        </p:txBody>
      </p:sp>
      <p:sp>
        <p:nvSpPr>
          <p:cNvPr id="15" name="Text 8"/>
          <p:cNvSpPr/>
          <p:nvPr/>
        </p:nvSpPr>
        <p:spPr>
          <a:xfrm>
            <a:off x="914400" y="4092001"/>
            <a:ext cx="23812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Disponibilizar painel público e gerencial com indicadores consolidados.</a:t>
            </a:r>
            <a:endParaRPr lang="en-US" sz="727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391" y="3270470"/>
            <a:ext cx="192881" cy="2571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581391" y="3763389"/>
            <a:ext cx="18216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PUBLICAÇÕES TÉCNICAS</a:t>
            </a:r>
            <a:endParaRPr lang="en-US" sz="885" dirty="0"/>
          </a:p>
        </p:txBody>
      </p:sp>
      <p:sp>
        <p:nvSpPr>
          <p:cNvPr id="18" name="Text 10"/>
          <p:cNvSpPr/>
          <p:nvPr/>
        </p:nvSpPr>
        <p:spPr>
          <a:xfrm>
            <a:off x="3581391" y="4092001"/>
            <a:ext cx="23812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Publicar boletins técnicos periódicos e relatórios analíticos fundamentados.</a:t>
            </a:r>
            <a:endParaRPr lang="en-US" sz="727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381" y="3270470"/>
            <a:ext cx="321469" cy="2571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248381" y="3763389"/>
            <a:ext cx="16769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CONFORMIDADE LGPD</a:t>
            </a:r>
            <a:endParaRPr lang="en-US" sz="885" dirty="0"/>
          </a:p>
        </p:txBody>
      </p:sp>
      <p:sp>
        <p:nvSpPr>
          <p:cNvPr id="21" name="Text 12"/>
          <p:cNvSpPr/>
          <p:nvPr/>
        </p:nvSpPr>
        <p:spPr>
          <a:xfrm>
            <a:off x="6248381" y="4092001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Garantir proteção de dados, sigilo e anonimização rigorosa.</a:t>
            </a:r>
            <a:endParaRPr lang="en-US" sz="727" dirty="0"/>
          </a:p>
        </p:txBody>
      </p:sp>
      <p:sp>
        <p:nvSpPr>
          <p:cNvPr id="22" name="Shape 13"/>
          <p:cNvSpPr/>
          <p:nvPr/>
        </p:nvSpPr>
        <p:spPr>
          <a:xfrm>
            <a:off x="914400" y="4777801"/>
            <a:ext cx="7715250" cy="53042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4"/>
          <p:cNvSpPr/>
          <p:nvPr/>
        </p:nvSpPr>
        <p:spPr>
          <a:xfrm>
            <a:off x="1200150" y="4956395"/>
            <a:ext cx="45005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Missão: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Transformar dados em inteligência para salvar vidas.</a:t>
            </a:r>
            <a:endParaRPr lang="en-US" sz="987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2463" y="4985863"/>
            <a:ext cx="714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818378"/>
            <a:ext cx="3002161" cy="37326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Projeto OBSMULHER-TO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63139"/>
            <a:ext cx="2381241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348926"/>
            <a:ext cx="23812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Denominação e Vínculo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914400" y="3034726"/>
            <a:ext cx="238124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Núcleo técnico-analítico permanente vinculado diretamente ao Gabinete do Secretário ou à Superintendência de Inteligência/Estatística da SSP-TO.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391" y="1763139"/>
            <a:ext cx="2381241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81391" y="2348926"/>
            <a:ext cx="23812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Premissas de Eficiência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3581391" y="3034726"/>
            <a:ext cx="238124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Baixo custo operacional com alto aproveitamento de estruturas físicas e sistemas de dados estaduais já disponíveis.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81" y="1763139"/>
            <a:ext cx="2381269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8381" y="2348926"/>
            <a:ext cx="23812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Modular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6248381" y="3034726"/>
            <a:ext cx="238126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escalonável que prioriza a agilidade na implantação inicial e permite expansão futura conforme a demanda.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914400" y="4309104"/>
            <a:ext cx="7715250" cy="585788"/>
          </a:xfrm>
          <a:prstGeom prst="rect">
            <a:avLst/>
          </a:prstGeom>
          <a:solidFill>
            <a:srgbClr val="2C3E50">
              <a:alpha val="5000"/>
            </a:srgbClr>
          </a:solidFill>
          <a:ln/>
        </p:spPr>
      </p:sp>
      <p:sp>
        <p:nvSpPr>
          <p:cNvPr id="14" name="Text 8"/>
          <p:cNvSpPr/>
          <p:nvPr/>
        </p:nvSpPr>
        <p:spPr>
          <a:xfrm>
            <a:off x="1128713" y="4523417"/>
            <a:ext cx="7286625" cy="371475"/>
          </a:xfrm>
          <a:prstGeom prst="rect">
            <a:avLst/>
          </a:prstGeom>
          <a:noFill/>
          <a:ln/>
        </p:spPr>
        <p:txBody>
          <a:bodyPr wrap="square" lIns="0" tIns="0" rIns="0" bIns="25514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Estratégico: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Aproveitamento de inteligência institucional para proteção imediata.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8565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75503"/>
            <a:ext cx="4225528" cy="37326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Objetivos Específicos do Observatório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914400" y="1477389"/>
            <a:ext cx="428625" cy="428625"/>
          </a:xfrm>
          <a:prstGeom prst="rect">
            <a:avLst/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02" y="1591689"/>
            <a:ext cx="175022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1619" y="1634551"/>
            <a:ext cx="64293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Padronização de Dados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1521619" y="1939947"/>
            <a:ext cx="642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Consolidar e padronizar as bases de dados sobre crimes envolvendo mulheres, garantindo a integridade e a comparabilidade das informações entre diferentes órgãos.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914400" y="2640034"/>
            <a:ext cx="428625" cy="428625"/>
          </a:xfrm>
          <a:prstGeom prst="rect">
            <a:avLst/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02" y="2754334"/>
            <a:ext cx="175022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21619" y="2797197"/>
            <a:ext cx="64293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 de Boletins Técnicos</a:t>
            </a:r>
            <a:endParaRPr lang="en-US" sz="1090" dirty="0"/>
          </a:p>
        </p:txBody>
      </p:sp>
      <p:sp>
        <p:nvSpPr>
          <p:cNvPr id="11" name="Text 6"/>
          <p:cNvSpPr/>
          <p:nvPr/>
        </p:nvSpPr>
        <p:spPr>
          <a:xfrm>
            <a:off x="1521619" y="3102592"/>
            <a:ext cx="642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Elaborar relatórios mensais, trimestrais e anuais com análises aprofundadas sobre a evolução dos indicadores de violência de gênero no estado.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914400" y="3802680"/>
            <a:ext cx="428625" cy="428625"/>
          </a:xfrm>
          <a:prstGeom prst="rect">
            <a:avLst/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916980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1619" y="3959842"/>
            <a:ext cx="64293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Risco e Reincidência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1521619" y="4265237"/>
            <a:ext cx="642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 padrões de reincidência, sazonalidade e fatores de risco para antecipar cenários e subsidiar o planejamento operacional preventivo.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914400" y="4965325"/>
            <a:ext cx="428625" cy="428625"/>
          </a:xfrm>
          <a:prstGeom prst="rect">
            <a:avLst/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198" y="5079625"/>
            <a:ext cx="225028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21619" y="5122487"/>
            <a:ext cx="64293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de Medidas Protetivas</a:t>
            </a:r>
            <a:endParaRPr lang="en-US" sz="1090" dirty="0"/>
          </a:p>
        </p:txBody>
      </p:sp>
      <p:sp>
        <p:nvSpPr>
          <p:cNvPr id="19" name="Text 12"/>
          <p:cNvSpPr/>
          <p:nvPr/>
        </p:nvSpPr>
        <p:spPr>
          <a:xfrm>
            <a:off x="1521619" y="5427883"/>
            <a:ext cx="642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Acompanhar a eficácia das medidas protetivas de urgência e os indicadores de feminicídio para fortalecer a rede de proteção à mulher.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75503"/>
            <a:ext cx="3927277" cy="37326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Modelo Operacional - Fase 1 (MVP)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914400" y="1363089"/>
            <a:ext cx="77152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Implantação Imediata: 0 a 6 meses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914400" y="2000669"/>
            <a:ext cx="3714750" cy="2099090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2373037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8744" y="2357856"/>
            <a:ext cx="15484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e Recursos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1414463" y="2716830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Equipe técnica mínima com aproveitamento de pessoal existente.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1414463" y="3168281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de ferramentas de BI (Business Intelligence) já disponíveis na SSP-TO.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1414463" y="3619733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Homologação das fontes de dados iniciais e saneamento de bases.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914900" y="2000669"/>
            <a:ext cx="3714750" cy="2099090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213" y="2373037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9244" y="2357856"/>
            <a:ext cx="14430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Entregas Principais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5414963" y="2716830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Lançamento da primeira versão do Painel Virtual da Segurança da Mulher.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5414963" y="3168281"/>
            <a:ext cx="3000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Publicação do primeiro Boletim Sintético Mensal.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5414963" y="3436869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Estabelecimento da rotina de governança e fluxo de dados.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914400" y="4749840"/>
            <a:ext cx="245923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FOCO: AGILIDADE E BAIXO CUSTO</a:t>
            </a:r>
            <a:endParaRPr lang="en-US" sz="78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442" y="4767700"/>
            <a:ext cx="100013" cy="10001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88173" y="4758770"/>
            <a:ext cx="324147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Prioridade para indicadores de feminicídio e medidas protetivas.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75503"/>
            <a:ext cx="4177308" cy="37326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Expansão e Modelo Ideal (Fases 2 e 3)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914400" y="1620264"/>
            <a:ext cx="3714750" cy="458986"/>
          </a:xfrm>
          <a:prstGeom prst="rect">
            <a:avLst/>
          </a:prstGeom>
          <a:solidFill>
            <a:srgbClr val="2C3E5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1778319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07306" y="1763139"/>
            <a:ext cx="21574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2: Modelo Intermediário</a:t>
            </a:r>
            <a:endParaRPr lang="en-US" sz="987" dirty="0"/>
          </a:p>
        </p:txBody>
      </p:sp>
      <p:sp>
        <p:nvSpPr>
          <p:cNvPr id="7" name="Shape 3"/>
          <p:cNvSpPr/>
          <p:nvPr/>
        </p:nvSpPr>
        <p:spPr>
          <a:xfrm>
            <a:off x="914400" y="2222125"/>
            <a:ext cx="3714750" cy="2333048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1128713" y="2565025"/>
            <a:ext cx="32861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E AUTOMAÇÃO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1414463" y="2836487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automatizada de dados multisetoriais (Saúde, Justiça, Assistência).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1414463" y="3287939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Desenvolvimento de relatórios analíticos complexos e preditivos.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1414463" y="3739390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Expansão das camadas de acesso gerencial para delegacias especializadas.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1128713" y="4219417"/>
            <a:ext cx="32861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CRONOGRAMA: 6 a 18 meses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4914900" y="1620264"/>
            <a:ext cx="3714750" cy="458986"/>
          </a:xfrm>
          <a:prstGeom prst="rect">
            <a:avLst/>
          </a:prstGeom>
          <a:solidFill>
            <a:srgbClr val="2C3E5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75" y="1778319"/>
            <a:ext cx="178594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3525" y="1763139"/>
            <a:ext cx="1500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3: Modelo Ideal</a:t>
            </a:r>
            <a:endParaRPr lang="en-US" sz="987" dirty="0"/>
          </a:p>
        </p:txBody>
      </p:sp>
      <p:sp>
        <p:nvSpPr>
          <p:cNvPr id="16" name="Shape 11"/>
          <p:cNvSpPr/>
          <p:nvPr/>
        </p:nvSpPr>
        <p:spPr>
          <a:xfrm>
            <a:off x="4914900" y="2222125"/>
            <a:ext cx="3714750" cy="2333048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129213" y="2565025"/>
            <a:ext cx="32861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EXCELÊNCIA E PARCERIAS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5414963" y="2836487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Consolidação como referência nacional em inteligência de gênero.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5414963" y="3287939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Fomento a parcerias acadêmicas para pesquisas aplicadas de prevenção.</a:t>
            </a:r>
            <a:endParaRPr lang="en-US" sz="834" dirty="0"/>
          </a:p>
        </p:txBody>
      </p:sp>
      <p:sp>
        <p:nvSpPr>
          <p:cNvPr id="20" name="Text 15"/>
          <p:cNvSpPr/>
          <p:nvPr/>
        </p:nvSpPr>
        <p:spPr>
          <a:xfrm>
            <a:off x="5414963" y="3739390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Intercâmbio técnico com observatórios de outros estados e órgãos federais.</a:t>
            </a: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5129213" y="4219417"/>
            <a:ext cx="32861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CRONOGRAMA: 18 a 36 meses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75503"/>
            <a:ext cx="4305895" cy="37326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Painel Virtual da Segurança da Mulher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914400" y="1491676"/>
            <a:ext cx="642937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Painel Virtual é a </a:t>
            </a:r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FF7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principal ferramenta de transparência e gestão visual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Observatório, oferecendo indicadores estratégicos em formato digital e acessível.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914400" y="2423210"/>
            <a:ext cx="3714750" cy="2428875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899163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21619" y="2880410"/>
            <a:ext cx="133052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Versão Pública</a:t>
            </a:r>
            <a:endParaRPr lang="en-US" sz="119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410834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71638" y="3303677"/>
            <a:ext cx="26717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agregados para transparência ativa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3753734"/>
            <a:ext cx="100013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71638" y="3725159"/>
            <a:ext cx="21931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livre via portal institucional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4018052"/>
            <a:ext cx="100013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671638" y="3989477"/>
            <a:ext cx="26574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em estatísticas gerais e informativas</a:t>
            </a:r>
            <a:endParaRPr lang="en-US" sz="942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4282371"/>
            <a:ext cx="100013" cy="1000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671638" y="4253796"/>
            <a:ext cx="22752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ao controle social e imprensa</a:t>
            </a:r>
            <a:endParaRPr lang="en-US" sz="942" dirty="0"/>
          </a:p>
        </p:txBody>
      </p:sp>
      <p:sp>
        <p:nvSpPr>
          <p:cNvPr id="16" name="Shape 8"/>
          <p:cNvSpPr/>
          <p:nvPr/>
        </p:nvSpPr>
        <p:spPr>
          <a:xfrm>
            <a:off x="4914900" y="2423210"/>
            <a:ext cx="3714750" cy="2428875"/>
          </a:xfrm>
          <a:prstGeom prst="rect">
            <a:avLst/>
          </a:prstGeom>
          <a:solidFill>
            <a:srgbClr val="9B59B6">
              <a:alpha val="5000"/>
            </a:srgbClr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650" y="2899163"/>
            <a:ext cx="214313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522119" y="2880410"/>
            <a:ext cx="150911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Versão Gerencial</a:t>
            </a:r>
            <a:endParaRPr lang="en-US" sz="1193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332252"/>
            <a:ext cx="100013" cy="100013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672138" y="3303677"/>
            <a:ext cx="23949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Maior detalhamento para uso interno</a:t>
            </a:r>
            <a:endParaRPr lang="en-US" sz="942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3596571"/>
            <a:ext cx="100013" cy="100013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672138" y="3567996"/>
            <a:ext cx="185558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restrito e autenticado</a:t>
            </a:r>
            <a:endParaRPr lang="en-US" sz="942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3860890"/>
            <a:ext cx="100013" cy="100013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672138" y="3832315"/>
            <a:ext cx="25181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Subsídio direto para operações policiais</a:t>
            </a:r>
            <a:endParaRPr lang="en-US" sz="942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0" y="4125209"/>
            <a:ext cx="100013" cy="100013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672138" y="4096634"/>
            <a:ext cx="23145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microdados e tendências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2026-03-16T14:21:33Z</dcterms:created>
  <dcterms:modified xsi:type="dcterms:W3CDTF">2026-03-16T14:21:33Z</dcterms:modified>
</cp:coreProperties>
</file>